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Set the executive promise before introducing any product detail.</a:t>
            </a:r>
          </a:p>
          <a:p/>
          <a:p>
            <a:r>
              <a:t>Open with CRM adoption and data freshness, not product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Start from the spreadsheet CRM the audience actually runs today.</a:t>
            </a:r>
          </a:p>
          <a:p/>
          <a:p>
            <a:r>
              <a:t>Excel is the baseline; the last row is the bridge, not the main point. Not a guaranteed Salesforce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that Notion is a credible, flexible CRM foundation.</a:t>
            </a:r>
          </a:p>
          <a:p/>
          <a:p>
            <a:r>
              <a:t>Notion is the system of record; some deployments label Deals as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the full CRM data model and which parts Notion Pilot actually maintains.</a:t>
            </a:r>
          </a:p>
          <a:p/>
          <a:p>
            <a:r>
              <a:t>Five databases, not four: Meetings is a real database, related from Activities.Meeting and People.Meetings. A meeting is ALSO an Activity type — both are true. Notion Pilot automates Companies/People/Leads/Activities; the public deploy currently creates only Companies/People/Leads. See docs/notion-pilot-crm-readiness-audit.md.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Demonstrate how Notion unifies pipeline, projects, and customer context.</a:t>
            </a:r>
          </a:p>
          <a:p/>
          <a:p>
            <a:r>
              <a:t>Sell the Notion CRM vision for executives.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Answer the strongest spreadsheet objection — reporting — with native Notion mechanics.</a:t>
            </a:r>
          </a:p>
          <a:p/>
          <a:p>
            <a:r>
              <a:t>Excel's charts are what people miss most. Dashboards are configuration work — do not promise a BI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Address data-residency and governance questions before they derail the discussion.</a:t>
            </a:r>
          </a:p>
          <a:p/>
          <a:p>
            <a:r>
              <a:t>Residency is a Notion Enterprise capability, not a Notion Pilot claim. Never state a guarantee from this deck — point to Notion's current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Pivot from Notion as foundation to the CRM maintenance problem.</a:t>
            </a:r>
          </a:p>
          <a:p/>
          <a:p>
            <a:r>
              <a:t>Notion solves collaboration; Notion Pilot solves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Introduce Notion Pilot as the operator-controlled automation layer.</a:t>
            </a:r>
          </a:p>
          <a:p/>
          <a:p>
            <a:r>
              <a:t>Operator-owned infrastructure that makes a Notion CRM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where teams capture CRM information in daily workflows.</a:t>
            </a:r>
          </a:p>
          <a:p/>
          <a:p>
            <a:r>
              <a:t>MCP details in appendix A1. The conversation panel is an illustration, not a screenshot —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Prove that data quality improves before records reach Notion.</a:t>
            </a:r>
          </a:p>
          <a:p/>
          <a:p>
            <a:r>
              <a:t>French open-data enrichment is deployment-specific.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Walk through one end-to-end deal lifecycle from capture to close.</a:t>
            </a:r>
          </a:p>
          <a:p/>
          <a:p>
            <a:r>
              <a:t>No invented revenue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Build executive trust through honest, transparent positioning.</a:t>
            </a:r>
          </a:p>
          <a:p/>
          <a:p>
            <a:r>
              <a:t>Trust slide for executives.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Close with a concrete, low-risk pilot plan the audience can act on.</a:t>
            </a:r>
          </a:p>
          <a:p/>
          <a:p>
            <a:r>
              <a:t>Offer to scope the pilot in a follow-up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Convert interest into a booked scoping call with an explicit, small commitment.</a:t>
            </a:r>
          </a:p>
          <a:p/>
          <a:p>
            <a:r>
              <a:t>Do not leave the room without a date. If they hesitate, shrink the ask: one channel, one entity, one owner. Fill the booking link before this deck goes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Document MCP tools and the dry-run / confirm write model for operators.</a:t>
            </a:r>
          </a:p>
          <a:p/>
          <a:p>
            <a:r>
              <a:t>Translate MCP as safe AI-assisted CRM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Describe the self-hosted deployment stack and operational responsibilities.</a:t>
            </a:r>
          </a:p>
          <a:p/>
          <a:p>
            <a:r>
              <a:t>Teams manage config, secrets,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Illustrate a real deployment pattern without inventing customer metrics.</a:t>
            </a:r>
          </a:p>
          <a:p/>
          <a:p>
            <a:r>
              <a:t>Real-world example without invented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Clarify default CRM bootstrap vs optional extended databases.</a:t>
            </a:r>
          </a:p>
          <a:p/>
          <a:p>
            <a:r>
              <a:t>Do not present extensions as universal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rner tint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841248" cy="841248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2134" y="1051560"/>
            <a:ext cx="504748" cy="84124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2848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1113410" y="1373757"/>
            <a:ext cx="111885" cy="111885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87982" y="1051560"/>
            <a:ext cx="3840480" cy="84124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047" b="1">
                <a:solidFill>
                  <a:srgbClr val="1A1A2E"/>
                </a:solidFill>
                <a:latin typeface="Segoe UI"/>
              </a:defRPr>
            </a:pPr>
            <a:r>
              <a:t>Notion 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04288"/>
            <a:ext cx="1005840" cy="5486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ro"/>
          <p:cNvSpPr txBox="1"/>
          <p:nvPr/>
        </p:nvSpPr>
        <p:spPr>
          <a:xfrm>
            <a:off x="594360" y="2542032"/>
            <a:ext cx="10241280" cy="1417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1A1A2E"/>
                </a:solidFill>
                <a:latin typeface="Segoe UI"/>
              </a:defRPr>
            </a:pPr>
            <a:r>
              <a:t>Stop maintaining your CRM.</a:t>
            </a:r>
          </a:p>
          <a:p>
            <a:pPr algn="l">
              <a:spcAft>
                <a:spcPts val="0"/>
              </a:spcAft>
              <a:defRPr sz="4000" b="1">
                <a:solidFill>
                  <a:srgbClr val="6E56CF"/>
                </a:solidFill>
                <a:latin typeface="Segoe UI"/>
              </a:defRPr>
            </a:pPr>
            <a:r>
              <a:t>Start trusting it.</a:t>
            </a:r>
          </a:p>
        </p:txBody>
      </p:sp>
      <p:sp>
        <p:nvSpPr>
          <p:cNvPr id="10" name="Tagline"/>
          <p:cNvSpPr txBox="1"/>
          <p:nvPr/>
        </p:nvSpPr>
        <p:spPr>
          <a:xfrm>
            <a:off x="594360" y="3968496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4748B"/>
                </a:solidFill>
                <a:latin typeface="Segoe UI"/>
              </a:defRPr>
            </a:pPr>
            <a:r>
              <a:t>Capture anywhere → Structure in Notion → Maintain with AI assistants under human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709160"/>
            <a:ext cx="3454298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3816" y="4910328"/>
            <a:ext cx="384048" cy="384048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709160"/>
            <a:ext cx="2539898" cy="78638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A45B0"/>
                </a:solidFill>
                <a:latin typeface="Segoe UI"/>
              </a:defRPr>
            </a:pPr>
            <a:r>
              <a:t>Capture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698" y="4709160"/>
            <a:ext cx="3454298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8154" y="4910328"/>
            <a:ext cx="384048" cy="384048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8506" y="4709160"/>
            <a:ext cx="2539898" cy="78638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A45B0"/>
                </a:solidFill>
                <a:latin typeface="Segoe UI"/>
              </a:defRPr>
            </a:pPr>
            <a:r>
              <a:t>Structure in Notion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3036" y="4709160"/>
            <a:ext cx="3454298" cy="786384"/>
          </a:xfrm>
          <a:prstGeom prst="roundRect">
            <a:avLst>
              <a:gd name="adj" fmla="val 16000"/>
            </a:avLst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2492" y="4910328"/>
            <a:ext cx="384048" cy="384048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2844" y="4709160"/>
            <a:ext cx="2539898" cy="786384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A45B0"/>
                </a:solidFill>
                <a:latin typeface="Segoe UI"/>
              </a:defRPr>
            </a:pPr>
            <a:r>
              <a:t>Maintain with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oter"/>
          <p:cNvSpPr txBox="1"/>
          <p:nvPr/>
        </p:nvSpPr>
        <p:spPr>
          <a:xfrm>
            <a:off x="594360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Self-hosted · human-in-the-loop · Notion stays the source of truth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E56CF"/>
                </a:solidFill>
                <a:latin typeface="Segoe UI"/>
              </a:defRPr>
            </a:pPr>
            <a:r>
              <a:t>PART 1 —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Your pipeline is a spreadsheet nobody trusts after Tuesday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Excel never crashes. It just quietly goes out of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11002975" cy="565403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4181130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The spreadsheet CRM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5490" y="2487168"/>
            <a:ext cx="6821845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it costs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16579"/>
            <a:ext cx="11002975" cy="56540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16579"/>
            <a:ext cx="4181130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One person keeps it 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5490" y="3116579"/>
            <a:ext cx="6821845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As fresh as their last free hour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45990"/>
            <a:ext cx="11002975" cy="565403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45990"/>
            <a:ext cx="4181130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Rows that don't know each other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5490" y="3745990"/>
            <a:ext cx="6821845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Company, contact and deal history never join 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375401"/>
            <a:ext cx="11002975" cy="56540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75401"/>
            <a:ext cx="4181130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A copy in everyone's inbox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5490" y="4375401"/>
            <a:ext cx="6821845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Five versions, no agreed truth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004812"/>
            <a:ext cx="11002975" cy="565403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04812"/>
            <a:ext cx="4181130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Reports rebuilt by hand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5490" y="5004812"/>
            <a:ext cx="6821845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Numbers arrive late — and get argued with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634223"/>
            <a:ext cx="11002975" cy="56540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634223"/>
            <a:ext cx="4181130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The big-CRM 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5490" y="5634223"/>
            <a:ext cx="6821845" cy="565403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Per-seat cost, rigid workflows, same stale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E56CF"/>
                </a:solidFill>
                <a:latin typeface="Segoe UI"/>
              </a:defRPr>
            </a:pPr>
            <a:r>
              <a:t>PART 1 —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Notion is already a database. Let's make it your CRM.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Companies, People, Deals — linked, with the context on the same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3454298" cy="2880360"/>
          </a:xfrm>
          <a:prstGeom prst="roundRect">
            <a:avLst>
              <a:gd name="adj" fmla="val 8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2798064"/>
            <a:ext cx="566928" cy="56692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2000" b="1">
                <a:solidFill>
                  <a:srgbClr val="5A45B0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547872"/>
            <a:ext cx="283250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A1A2E"/>
                </a:solidFill>
                <a:latin typeface="Segoe UI"/>
              </a:defRPr>
            </a:pPr>
            <a:r>
              <a:t>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114800"/>
            <a:ext cx="2832506" cy="10058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Organizations, firmographics, and relationships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8698" y="2487168"/>
            <a:ext cx="3454298" cy="2880360"/>
          </a:xfrm>
          <a:prstGeom prst="roundRect">
            <a:avLst>
              <a:gd name="adj" fmla="val 8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79594" y="2798064"/>
            <a:ext cx="566928" cy="56692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2000" b="1">
                <a:solidFill>
                  <a:srgbClr val="5A45B0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594" y="3547872"/>
            <a:ext cx="283250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A1A2E"/>
                </a:solidFill>
                <a:latin typeface="Segoe UI"/>
              </a:defRPr>
            </a:pPr>
            <a:r>
              <a:t>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594" y="4114800"/>
            <a:ext cx="2832506" cy="10058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Contacts, roles, and professional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3036" y="2487168"/>
            <a:ext cx="3454298" cy="2880360"/>
          </a:xfrm>
          <a:prstGeom prst="roundRect">
            <a:avLst>
              <a:gd name="adj" fmla="val 8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53932" y="2798064"/>
            <a:ext cx="566928" cy="566928"/>
          </a:xfrm>
          <a:prstGeom prst="ellipse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2000" b="1">
                <a:solidFill>
                  <a:srgbClr val="5A45B0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3932" y="3547872"/>
            <a:ext cx="2832506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A1A2E"/>
                </a:solidFill>
                <a:latin typeface="Segoe UI"/>
              </a:defRPr>
            </a:pPr>
            <a:r>
              <a:t>Deals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3932" y="4114800"/>
            <a:ext cx="2832506" cy="100584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Pipeline stages, value, and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568696"/>
            <a:ext cx="11002975" cy="548640"/>
          </a:xfrm>
          <a:prstGeom prst="roundRect">
            <a:avLst>
              <a:gd name="adj" fmla="val 14000"/>
            </a:avLst>
          </a:prstGeom>
          <a:solidFill>
            <a:srgbClr val="F0EEFF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Relations keep the three in sync — one company, one contact, one pipeline, no retyping.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E56CF"/>
                </a:solidFill>
                <a:latin typeface="Segoe UI"/>
              </a:defRPr>
            </a:pPr>
            <a:r>
              <a:t>PART 1 —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Five databases. One relational spine.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Every record joins up — a call logged today shows on the deal, the contact and the company.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131820"/>
            <a:ext cx="1295247" cy="464820"/>
          </a:xfrm>
          <a:prstGeom prst="line">
            <a:avLst/>
          </a:prstGeom>
          <a:ln w="15875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70783" y="310819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 company → n deals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60320"/>
            <a:ext cx="2606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ntity: Companies"/>
          <p:cNvSpPr txBox="1"/>
          <p:nvPr/>
        </p:nvSpPr>
        <p:spPr>
          <a:xfrm>
            <a:off x="795528" y="27249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5A45B0"/>
                </a:solidFill>
                <a:latin typeface="Segoe UI"/>
              </a:defRPr>
            </a:pPr>
            <a:r>
              <a:t>Companies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163824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Sector · Tier · SIREN · CA · country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29968" y="2706624"/>
            <a:ext cx="1005840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Segoe UI"/>
              </a:defRPr>
            </a:pPr>
            <a:r>
              <a:t>AUTOMATED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200400" y="4038600"/>
            <a:ext cx="1295247" cy="464820"/>
          </a:xfrm>
          <a:prstGeom prst="line">
            <a:avLst/>
          </a:prstGeom>
          <a:ln w="15875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70783" y="401497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 contact → n deals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31920"/>
            <a:ext cx="2606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ntity: People"/>
          <p:cNvSpPr txBox="1"/>
          <p:nvPr/>
        </p:nvSpPr>
        <p:spPr>
          <a:xfrm>
            <a:off x="795528" y="40965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5A45B0"/>
                </a:solidFill>
                <a:latin typeface="Segoe UI"/>
              </a:defRPr>
            </a:pPr>
            <a:r>
              <a:t>People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535424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Position · seniority · email ·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29968" y="4078224"/>
            <a:ext cx="1005840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Segoe UI"/>
              </a:defRPr>
            </a:pPr>
            <a:r>
              <a:t>AUTOMATED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696047" y="3131820"/>
            <a:ext cx="1295248" cy="685800"/>
          </a:xfrm>
          <a:prstGeom prst="line">
            <a:avLst/>
          </a:prstGeom>
          <a:ln w="15875">
            <a:solidFill>
              <a:srgbClr val="6E5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66431" y="321868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 deal → n activities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1295" y="2560320"/>
            <a:ext cx="2606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ntity: Activities"/>
          <p:cNvSpPr txBox="1"/>
          <p:nvPr/>
        </p:nvSpPr>
        <p:spPr>
          <a:xfrm>
            <a:off x="9192463" y="27249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5A45B0"/>
                </a:solidFill>
                <a:latin typeface="Segoe UI"/>
              </a:defRPr>
            </a:pPr>
            <a:r>
              <a:t>Activities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2463" y="3163824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Type · date · outcome · next step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6903" y="2706624"/>
            <a:ext cx="1005840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Segoe UI"/>
              </a:defRPr>
            </a:pPr>
            <a:r>
              <a:t>AUTOMATED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94315" y="3703320"/>
            <a:ext cx="0" cy="228600"/>
          </a:xfrm>
          <a:prstGeom prst="line">
            <a:avLst/>
          </a:prstGeom>
          <a:ln w="12700">
            <a:solidFill>
              <a:srgbClr val="EC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991295" y="3712464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meeting notes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1295" y="3931920"/>
            <a:ext cx="2606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ntity: Meetings"/>
          <p:cNvSpPr txBox="1"/>
          <p:nvPr/>
        </p:nvSpPr>
        <p:spPr>
          <a:xfrm>
            <a:off x="9192463" y="40965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5A45B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2463" y="4535424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Notes · attendees · linked deal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6903" y="4078224"/>
            <a:ext cx="1005840" cy="237744"/>
          </a:xfrm>
          <a:prstGeom prst="roundRect">
            <a:avLst>
              <a:gd name="adj" fmla="val 30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750" b="1">
                <a:solidFill>
                  <a:srgbClr val="64748B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5647" y="3154680"/>
            <a:ext cx="3200400" cy="1325880"/>
          </a:xfrm>
          <a:prstGeom prst="roundRect">
            <a:avLst>
              <a:gd name="adj" fmla="val 9000"/>
            </a:avLst>
          </a:prstGeom>
          <a:solidFill>
            <a:srgbClr val="6E56C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ntity: Leads / Deals"/>
          <p:cNvSpPr txBox="1"/>
          <p:nvPr/>
        </p:nvSpPr>
        <p:spPr>
          <a:xfrm>
            <a:off x="4696815" y="3319272"/>
            <a:ext cx="2798064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Leads / Deals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6815" y="3758184"/>
            <a:ext cx="2798064" cy="5943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F0EEFF"/>
                </a:solidFill>
                <a:latin typeface="Segoe UI"/>
              </a:defRPr>
            </a:pPr>
            <a:r>
              <a:t>Stage · value · probability · expected close · stale flag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25615" y="3300984"/>
            <a:ext cx="1005840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Segoe UI"/>
              </a:defRPr>
            </a:pPr>
            <a:r>
              <a:t>AUTOMATED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358384"/>
            <a:ext cx="11002975" cy="566928"/>
          </a:xfrm>
          <a:prstGeom prst="roundRect">
            <a:avLst>
              <a:gd name="adj" fmla="val 14000"/>
            </a:avLst>
          </a:prstGeom>
          <a:solidFill>
            <a:srgbClr val="F0EEFF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Notion Pilot reads and writes the four automated databases. Meetings stays human — and the default deploy creates only three.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E56CF"/>
                </a:solidFill>
                <a:latin typeface="Segoe UI"/>
              </a:defRPr>
            </a:pPr>
            <a:r>
              <a:t>PART 1 —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One workspace. Every deal, with its whole story attached.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Account history stops being a scavenger hunt.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11002975" cy="880109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4621249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Before: fragmented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5609" y="2487168"/>
            <a:ext cx="6381726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After: unified in Notion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31285"/>
            <a:ext cx="11002975" cy="88010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31285"/>
            <a:ext cx="4621249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CRM in one tool, notes elsewhere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5609" y="3431285"/>
            <a:ext cx="6381726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Records and context in one place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375402"/>
            <a:ext cx="11002975" cy="880109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75402"/>
            <a:ext cx="4621249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Account history scattered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5609" y="4375402"/>
            <a:ext cx="6381726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Linked timeline on each deal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19519"/>
            <a:ext cx="11002975" cy="88010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319519"/>
            <a:ext cx="4621249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Leadership lacks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5609" y="5319519"/>
            <a:ext cx="6381726" cy="8801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Shared views across the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E56CF"/>
                </a:solidFill>
                <a:latin typeface="Segoe UI"/>
              </a:defRPr>
            </a:pPr>
            <a:r>
              <a:t>PART 1 —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The weekly report that builds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Rollups and formulas do the arithmetic. Views do the layout.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11002975" cy="534009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4181130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Pipeline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5490" y="2487168"/>
            <a:ext cx="6821845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Computed in Notion by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85185"/>
            <a:ext cx="11002975" cy="53400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85185"/>
            <a:ext cx="4181130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Pipeline value by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5490" y="3085185"/>
            <a:ext cx="6821845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Rollup on the Deals view, grouped by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83202"/>
            <a:ext cx="11002975" cy="534009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83202"/>
            <a:ext cx="4181130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Win rate — won vs lost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5490" y="3683202"/>
            <a:ext cx="6821845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Formula over Closed Won / Closed Lost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81219"/>
            <a:ext cx="11002975" cy="53400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81219"/>
            <a:ext cx="4181130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Deal ageing and stale deals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5490" y="4281219"/>
            <a:ext cx="6821845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Formula on last-activity date, surfaced in a 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879236"/>
            <a:ext cx="11002975" cy="534009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879236"/>
            <a:ext cx="4181130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Activity volume per deal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5490" y="4879236"/>
            <a:ext cx="6821845" cy="534009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Rollup from the Activities 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577840"/>
            <a:ext cx="11002975" cy="566928"/>
          </a:xfrm>
          <a:prstGeom prst="roundRect">
            <a:avLst>
              <a:gd name="adj" fmla="val 14000"/>
            </a:avLst>
          </a:prstGeom>
          <a:solidFill>
            <a:srgbClr val="F0EEFF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Every edit recomputes the numbers. Charts and dashboards are configuration work — not defaults.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E56CF"/>
                </a:solidFill>
                <a:latin typeface="Segoe UI"/>
              </a:defRPr>
            </a:pPr>
            <a:r>
              <a:t>PART 1 —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Your data, in your region, under your IT's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All of this comes from your Notion plan — confirm current terms with Notion.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Notion Enterprise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5371" y="2487168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it means for 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2462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2462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Choice of storage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5371" y="3242462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EU data residency is an Enterprise option — to be confirmed with Notion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97756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97756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Workspace-wide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5371" y="3997756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Shared pipeline views without a per-seat CRM licence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53050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53050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SSO, SCIM,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5371" y="4753050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Access governance owned by IT, not by the CRM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508344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08344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Teamspaces and permissions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5371" y="5508344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Scope who sees which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2 — THE ACCELERATION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The challenge is not managing a CRM. It is keeping the CRM alive.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Customer data is born in a call. It dies on the way to the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4621249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When data stays outside Notion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5609" y="2487168"/>
            <a:ext cx="6381726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breaks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2462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2462"/>
            <a:ext cx="4621249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Delayed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5609" y="3242462"/>
            <a:ext cx="6381726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Stale pipeline and missed follow-ups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97756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97756"/>
            <a:ext cx="4621249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Duplicate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5609" y="3997756"/>
            <a:ext cx="6381726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Wasted outreach and confused ownership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53050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53050"/>
            <a:ext cx="4621249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Incomplete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5609" y="4753050"/>
            <a:ext cx="6381726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Weak qualification and handoffs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508344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08344"/>
            <a:ext cx="4621249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Manual data entry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5609" y="5508344"/>
            <a:ext cx="6381726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CRM becomes admin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2 — THE ACCELERATION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Notion Pilot does the typing. You keep the judgement.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Self-hosted on your own server. Not a SaaS, not an autonomous 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11002975" cy="658368"/>
          </a:xfrm>
          <a:prstGeom prst="roundRect">
            <a:avLst>
              <a:gd name="adj" fmla="val 14000"/>
            </a:avLst>
          </a:prstGeom>
          <a:solidFill>
            <a:srgbClr val="F0EEFF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ctr">
              <a:spcAft>
                <a:spcPts val="0"/>
              </a:spcAft>
              <a:defRPr sz="1400" b="1">
                <a:solidFill>
                  <a:srgbClr val="5A45B0"/>
                </a:solidFill>
                <a:latin typeface="Segoe UI"/>
              </a:defRPr>
            </a:pPr>
            <a:r>
              <a:t>“The AI proposes. The operator validates. Notion remains the source of truth.”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19856"/>
            <a:ext cx="2352979" cy="1691640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621024"/>
            <a:ext cx="2060371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A1A2E"/>
                </a:solidFill>
                <a:latin typeface="Segoe UI"/>
              </a:defRPr>
            </a:pPr>
            <a:r>
              <a:t>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078224"/>
            <a:ext cx="2060371" cy="8686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Telegram · email · AI assistants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57067" y="4165092"/>
            <a:ext cx="310896" cy="201168"/>
          </a:xfrm>
          <a:prstGeom prst="rightArrow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77691" y="3419856"/>
            <a:ext cx="2352979" cy="1691640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3995" y="3621024"/>
            <a:ext cx="2060371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Notion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3995" y="4078224"/>
            <a:ext cx="2060371" cy="8686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0EEFF"/>
                </a:solidFill>
                <a:latin typeface="Segoe UI"/>
              </a:defRPr>
            </a:pPr>
            <a:r>
              <a:t>Match · dedup · enrich · preview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8" y="4165092"/>
            <a:ext cx="310896" cy="201168"/>
          </a:xfrm>
          <a:prstGeom prst="rightArrow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1022" y="3419856"/>
            <a:ext cx="2352979" cy="1691640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6" y="3621024"/>
            <a:ext cx="2060371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A1A2E"/>
                </a:solidFill>
                <a:latin typeface="Segoe UI"/>
              </a:defRPr>
            </a:pPr>
            <a:r>
              <a:t>Operator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6" y="4078224"/>
            <a:ext cx="2060371" cy="8686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Confirm before anything is written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23729" y="4165092"/>
            <a:ext cx="310896" cy="201168"/>
          </a:xfrm>
          <a:prstGeom prst="rightArrow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44353" y="3419856"/>
            <a:ext cx="2352979" cy="1691640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657" y="3621024"/>
            <a:ext cx="2060371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A1A2E"/>
                </a:solidFill>
                <a:latin typeface="Segoe UI"/>
              </a:defRPr>
            </a:pPr>
            <a:r>
              <a:t>Notion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657" y="4078224"/>
            <a:ext cx="2060371" cy="86868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Companies · People · Deals · Activities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40096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Self-hosted end to end — no third-party SaaS sits between your team and your Notion workspace.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2 — THE ACCELERATION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The CRM comes to your team, not the other way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Telegram is the most mature surface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5943600" cy="552297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2020824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2487168"/>
            <a:ext cx="3922776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CRM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03473"/>
            <a:ext cx="5943600" cy="55229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03473"/>
            <a:ext cx="2020824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Telegram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3103473"/>
            <a:ext cx="3922776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/lead · /people · /company · /deal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19778"/>
            <a:ext cx="5943600" cy="552297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19778"/>
            <a:ext cx="2020824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AI assistants (MCP)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3719778"/>
            <a:ext cx="3922776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Search, prepare updates, log activities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336083"/>
            <a:ext cx="5943600" cy="55229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36083"/>
            <a:ext cx="2020824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Web cockpit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5184" y="4336083"/>
            <a:ext cx="3922776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Deploy, inspect DBs, run scripts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952388"/>
            <a:ext cx="5943600" cy="552297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52388"/>
            <a:ext cx="2020824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Email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5184" y="4952388"/>
            <a:ext cx="3922776" cy="552297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Route to People/Companies with dedup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2487168"/>
            <a:ext cx="4602175" cy="3200400"/>
          </a:xfrm>
          <a:prstGeom prst="roundRect">
            <a:avLst>
              <a:gd name="adj" fmla="val 6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95160" y="2487168"/>
            <a:ext cx="4602175" cy="384048"/>
          </a:xfrm>
          <a:prstGeom prst="roundRect">
            <a:avLst>
              <a:gd name="adj" fmla="val 12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25400" bIns="25400"/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Notion Pilot bot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5422" y="3017520"/>
            <a:ext cx="3405609" cy="420624"/>
          </a:xfrm>
          <a:prstGeom prst="roundRect">
            <a:avLst>
              <a:gd name="adj" fmla="val 22000"/>
            </a:avLst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Segoe UI"/>
              </a:defRPr>
            </a:pPr>
            <a:r>
              <a:t>/lead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1464" y="3547872"/>
            <a:ext cx="3405609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Company? Contact? Source?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5422" y="4078224"/>
            <a:ext cx="3405609" cy="420624"/>
          </a:xfrm>
          <a:prstGeom prst="roundRect">
            <a:avLst>
              <a:gd name="adj" fmla="val 22000"/>
            </a:avLst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l">
              <a:spcAft>
                <a:spcPts val="0"/>
              </a:spcAft>
              <a:defRPr sz="1100" b="0">
                <a:solidFill>
                  <a:srgbClr val="1A1A2E"/>
                </a:solidFill>
                <a:latin typeface="Segoe UI"/>
              </a:defRPr>
            </a:pPr>
            <a:r>
              <a:t>Acme Énergie · J. Martin · inbound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41464" y="4608576"/>
            <a:ext cx="3405609" cy="60350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5400" bIns="25400"/>
          <a:lstStyle/>
          <a:p>
            <a:pPr algn="l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Preview ready — 1 new Deal, 1 matched Company. Confirm?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742432"/>
            <a:ext cx="4602175" cy="237744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Illustration — Telegram capture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2 — THE ACCELERATION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Fast automation that creates duplicates is just faster mess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Matching runs before the write; anything ambiguous goes to a human.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quality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5371" y="2487168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it delivers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2462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2462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Email &amp; LinkedIn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5371" y="3242462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Fewer duplicate contacts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97756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97756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Fuzzy name + company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5371" y="3997756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Near-miss detection before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53050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53050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Duplicate scans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5371" y="4753050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Conflicts surfaced for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508344"/>
            <a:ext cx="11002975" cy="691286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08344"/>
            <a:ext cx="3741011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5A45B0"/>
                </a:solidFill>
                <a:latin typeface="Segoe UI"/>
              </a:defRPr>
            </a:pPr>
            <a:r>
              <a:t>Open data / Apollo / Brave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5371" y="5508344"/>
            <a:ext cx="7261964" cy="691286"/>
          </a:xfrm>
          <a:prstGeom prst="rect">
            <a:avLst/>
          </a:prstGeom>
          <a:noFill/>
        </p:spPr>
        <p:txBody>
          <a:bodyPr wrap="square" anchor="ctr" lIns="152400" rIns="15240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Richer company context when configured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2 — THE ACCELERATION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One message on Monday. A closed deal with its whole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Won or lost — the reasoning stays attached.</a:t>
            </a:r>
          </a:p>
        </p:txBody>
      </p:sp>
      <p:sp>
        <p:nvSpPr>
          <p:cNvPr id="13" name="Chevron 12"/>
          <p:cNvSpPr/>
          <p:nvPr/>
        </p:nvSpPr>
        <p:spPr>
          <a:xfrm>
            <a:off x="594360" y="2487168"/>
            <a:ext cx="2303007" cy="822960"/>
          </a:xfrm>
          <a:prstGeom prst="chevron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Capture</a:t>
            </a:r>
          </a:p>
        </p:txBody>
      </p:sp>
      <p:sp>
        <p:nvSpPr>
          <p:cNvPr id="14" name="Chevron 13"/>
          <p:cNvSpPr/>
          <p:nvPr/>
        </p:nvSpPr>
        <p:spPr>
          <a:xfrm>
            <a:off x="2769351" y="2487168"/>
            <a:ext cx="2303007" cy="822960"/>
          </a:xfrm>
          <a:prstGeom prst="chevron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Match</a:t>
            </a:r>
          </a:p>
        </p:txBody>
      </p:sp>
      <p:sp>
        <p:nvSpPr>
          <p:cNvPr id="15" name="Chevron 14"/>
          <p:cNvSpPr/>
          <p:nvPr/>
        </p:nvSpPr>
        <p:spPr>
          <a:xfrm>
            <a:off x="4944342" y="2487168"/>
            <a:ext cx="2303007" cy="822960"/>
          </a:xfrm>
          <a:prstGeom prst="chevron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6" name="Chevron 15"/>
          <p:cNvSpPr/>
          <p:nvPr/>
        </p:nvSpPr>
        <p:spPr>
          <a:xfrm>
            <a:off x="7119333" y="2487168"/>
            <a:ext cx="2303007" cy="822960"/>
          </a:xfrm>
          <a:prstGeom prst="chevron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Progress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4324" y="2487168"/>
            <a:ext cx="2303007" cy="822960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11296"/>
            <a:ext cx="5318607" cy="1874519"/>
          </a:xfrm>
          <a:prstGeom prst="roundRect">
            <a:avLst>
              <a:gd name="adj" fmla="val 8000"/>
            </a:avLst>
          </a:prstGeom>
          <a:solidFill>
            <a:srgbClr val="F8F7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657600"/>
            <a:ext cx="4879695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WHAT THE REP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" y="4041648"/>
            <a:ext cx="4879695" cy="658368"/>
          </a:xfrm>
          <a:prstGeom prst="roundRect">
            <a:avLst>
              <a:gd name="adj" fmla="val 20000"/>
            </a:avLst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l">
              <a:spcAft>
                <a:spcPts val="0"/>
              </a:spcAft>
              <a:defRPr sz="1300" b="1">
                <a:solidFill>
                  <a:srgbClr val="5A45B0"/>
                </a:solidFill>
                <a:latin typeface="Segoe UI"/>
              </a:defRPr>
            </a:pPr>
            <a:r>
              <a:t>"Demo went well — proposal next week"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4828032"/>
            <a:ext cx="4879695" cy="3657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50" b="0">
                <a:solidFill>
                  <a:srgbClr val="64748B"/>
                </a:solidFill>
                <a:latin typeface="Segoe UI"/>
              </a:defRPr>
            </a:pPr>
            <a:r>
              <a:t>One Telegram message. No form, no fields, no tab-switching.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3511296"/>
            <a:ext cx="5318607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183" y="3657600"/>
            <a:ext cx="4879695" cy="27432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WHAT LANDS IN NOTION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023360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A45B0"/>
                </a:solidFill>
                <a:latin typeface="Segoe UI"/>
              </a:defRPr>
            </a:pPr>
            <a:r>
              <a:t>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4023" y="4023360"/>
            <a:ext cx="385556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50" b="0">
                <a:solidFill>
                  <a:srgbClr val="1A1A2E"/>
                </a:solidFill>
                <a:latin typeface="Segoe UI"/>
              </a:defRPr>
            </a:pPr>
            <a:r>
              <a:t>Acme Énergie — matched, not duplicated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183" y="4352544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A45B0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4023" y="4352544"/>
            <a:ext cx="385556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50" b="0">
                <a:solidFill>
                  <a:srgbClr val="1A1A2E"/>
                </a:solidFill>
                <a:latin typeface="Segoe UI"/>
              </a:defRPr>
            </a:pPr>
            <a:r>
              <a:t>J. Martin — role and email 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8183" y="4681728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A45B0"/>
                </a:solidFill>
                <a:latin typeface="Segoe UI"/>
              </a:defRPr>
            </a:pPr>
            <a:r>
              <a:t>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4023" y="4681728"/>
            <a:ext cx="385556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50" b="0">
                <a:solidFill>
                  <a:srgbClr val="1A1A2E"/>
                </a:solidFill>
                <a:latin typeface="Segoe UI"/>
              </a:defRPr>
            </a:pPr>
            <a:r>
              <a:t>Stage moved to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8183" y="5010912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A45B0"/>
                </a:solidFill>
                <a:latin typeface="Segoe UI"/>
              </a:defRPr>
            </a:pPr>
            <a:r>
              <a:t>Activity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4023" y="5010912"/>
            <a:ext cx="385556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150" b="0">
                <a:solidFill>
                  <a:srgbClr val="1A1A2E"/>
                </a:solidFill>
                <a:latin typeface="Segoe UI"/>
              </a:defRPr>
            </a:pPr>
            <a:r>
              <a:t>Demo logged against the deal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586983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Closed Won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5586983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B4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Closed Lost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586983"/>
            <a:ext cx="7071055" cy="45720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1A1A2E"/>
                </a:solidFill>
                <a:latin typeface="Segoe UI"/>
              </a:defRPr>
            </a:pPr>
            <a:r>
              <a:t>Both outcomes keep the reasoning attached — "why did we lose this" is a search next year, not a memory.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2 — THE ACCELERATION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Nothing gets written that you haven't seen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MCP writes require explicit confirmation; Notion stays the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5318607" cy="371246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487168"/>
            <a:ext cx="5318607" cy="512064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" bIns="25400"/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  Notion Pilot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90672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✓   A self-hosted automation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4195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✓   Human-in-the-loop on every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18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✓   Dry-run previews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81241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✓   Operator-owned and configurable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487168"/>
            <a:ext cx="5318607" cy="371246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44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2487168"/>
            <a:ext cx="5318607" cy="512064"/>
          </a:xfrm>
          <a:prstGeom prst="roundRect">
            <a:avLst>
              <a:gd name="adj" fmla="val 12000"/>
            </a:avLst>
          </a:prstGeom>
          <a:solidFill>
            <a:srgbClr val="B4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" bIns="25400"/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✕  Notion Pilot IS NOT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3090672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✕   A packaged SaaS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3854195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✕   An autonomous sales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607" y="4617718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✕   A black-box data overwrite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5381241"/>
            <a:ext cx="4952847" cy="763523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✕   Zero-config plug-and-play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3 — 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One channel. One entity. Four weeks.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At the end you have one pipeline view leadership actually trusts.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3454298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761488"/>
            <a:ext cx="603504" cy="603504"/>
          </a:xfrm>
          <a:prstGeom prst="ellipse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2400" b="1">
                <a:solidFill>
                  <a:srgbClr val="5A45B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52928"/>
            <a:ext cx="217413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A1A2E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47872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64748B"/>
                </a:solidFill>
                <a:latin typeface="Segoe UI"/>
              </a:defRPr>
            </a:pPr>
            <a:r>
              <a:t>One capture source — Telegram or an MCP-aware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6227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WEEK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8698" y="2487168"/>
            <a:ext cx="3454298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3018" y="2761488"/>
            <a:ext cx="603504" cy="603504"/>
          </a:xfrm>
          <a:prstGeom prst="ellipse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2400" b="1">
                <a:solidFill>
                  <a:srgbClr val="5A45B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4538" y="2852928"/>
            <a:ext cx="217413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A1A2E"/>
                </a:solidFill>
                <a:latin typeface="Segoe UI"/>
              </a:defRPr>
            </a:pPr>
            <a:r>
              <a:t>Configure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3547872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64748B"/>
                </a:solidFill>
                <a:latin typeface="Segoe UI"/>
              </a:defRPr>
            </a:pPr>
            <a:r>
              <a:t>Companies, People, Deals, plus enrichment where it earns its place.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3018" y="446227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WEEKS 1–2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3036" y="2487168"/>
            <a:ext cx="3454298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7356" y="2761488"/>
            <a:ext cx="603504" cy="603504"/>
          </a:xfrm>
          <a:prstGeom prst="ellipse">
            <a:avLst/>
          </a:prstGeom>
          <a:solidFill>
            <a:srgbClr val="F0EE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2400" b="1">
                <a:solidFill>
                  <a:srgbClr val="5A45B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8876" y="2852928"/>
            <a:ext cx="2174138" cy="4572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A1A2E"/>
                </a:solidFill>
                <a:latin typeface="Segoe UI"/>
              </a:defRPr>
            </a:pPr>
            <a:r>
              <a:t>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7356" y="3547872"/>
            <a:ext cx="2905658" cy="91440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64748B"/>
                </a:solidFill>
                <a:latin typeface="Segoe UI"/>
              </a:defRPr>
            </a:pPr>
            <a:r>
              <a:t>Live pilot with operator review on every single write.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7356" y="446227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WEEKS 2–4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212080"/>
            <a:ext cx="11002975" cy="640080"/>
          </a:xfrm>
          <a:prstGeom prst="roundRect">
            <a:avLst>
              <a:gd name="adj" fmla="val 14000"/>
            </a:avLst>
          </a:prstGeom>
          <a:solidFill>
            <a:srgbClr val="6E56CF"/>
          </a:solidFill>
          <a:ln w="15875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The ask: pick the capture channel and the first entity type before we leave the room.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PART 3 — 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43737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A1A2E"/>
                </a:solidFill>
                <a:latin typeface="Segoe UI"/>
              </a:defRPr>
            </a:pPr>
            <a:r>
              <a:t>Let's run your next real deal through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One scoping call, then a four-week pilot on your own workspace. Nothing to migrate, nothing to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87168"/>
            <a:ext cx="5318607" cy="2496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TA panel: What we need from you"/>
          <p:cNvSpPr/>
          <p:nvPr/>
        </p:nvSpPr>
        <p:spPr>
          <a:xfrm>
            <a:off x="594360" y="2487168"/>
            <a:ext cx="5318607" cy="475488"/>
          </a:xfrm>
          <a:prstGeom prst="roundRect">
            <a:avLst>
              <a:gd name="adj" fmla="val 12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" bIns="25400"/>
          <a:lstStyle/>
          <a:p>
            <a:pPr algn="l">
              <a:spcAft>
                <a:spcPts val="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What we need from you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" y="3244977"/>
            <a:ext cx="91440" cy="91440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054096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 Notion workspace — Enterprise if residency matters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" y="3718178"/>
            <a:ext cx="91440" cy="91440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527297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One capture channel to start with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" y="4191379"/>
            <a:ext cx="91440" cy="91440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000498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One named owner for config and review</a:t>
            </a:r>
          </a:p>
        </p:txBody>
      </p:sp>
      <p:sp>
        <p:nvSpPr>
          <p:cNvPr id="21" name="Oval 20"/>
          <p:cNvSpPr/>
          <p:nvPr/>
        </p:nvSpPr>
        <p:spPr>
          <a:xfrm>
            <a:off x="832104" y="4664580"/>
            <a:ext cx="91440" cy="91440"/>
          </a:xfrm>
          <a:prstGeom prst="ellipse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473699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Two hours of a salesperson's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2487168"/>
            <a:ext cx="5318607" cy="2496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TA panel: What you have in four weeks"/>
          <p:cNvSpPr/>
          <p:nvPr/>
        </p:nvSpPr>
        <p:spPr>
          <a:xfrm>
            <a:off x="6278727" y="2487168"/>
            <a:ext cx="5318607" cy="47548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" bIns="25400"/>
          <a:lstStyle/>
          <a:p>
            <a:pPr algn="l">
              <a:spcAft>
                <a:spcPts val="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What you have in four weeks</a:t>
            </a:r>
          </a:p>
        </p:txBody>
      </p:sp>
      <p:sp>
        <p:nvSpPr>
          <p:cNvPr id="25" name="Oval 24"/>
          <p:cNvSpPr/>
          <p:nvPr/>
        </p:nvSpPr>
        <p:spPr>
          <a:xfrm>
            <a:off x="6516471" y="3244977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4215" y="3054096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Your CRM schema live in Notion</a:t>
            </a:r>
          </a:p>
        </p:txBody>
      </p:sp>
      <p:sp>
        <p:nvSpPr>
          <p:cNvPr id="27" name="Oval 26"/>
          <p:cNvSpPr/>
          <p:nvPr/>
        </p:nvSpPr>
        <p:spPr>
          <a:xfrm>
            <a:off x="6516471" y="371817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4215" y="3527297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One capture flow running every day</a:t>
            </a:r>
          </a:p>
        </p:txBody>
      </p:sp>
      <p:sp>
        <p:nvSpPr>
          <p:cNvPr id="29" name="Oval 28"/>
          <p:cNvSpPr/>
          <p:nvPr/>
        </p:nvSpPr>
        <p:spPr>
          <a:xfrm>
            <a:off x="6516471" y="4191379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4215" y="4000498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Dedup and enrichment on real records</a:t>
            </a:r>
          </a:p>
        </p:txBody>
      </p:sp>
      <p:sp>
        <p:nvSpPr>
          <p:cNvPr id="31" name="Oval 30"/>
          <p:cNvSpPr/>
          <p:nvPr/>
        </p:nvSpPr>
        <p:spPr>
          <a:xfrm>
            <a:off x="6516471" y="466458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4215" y="4473699"/>
            <a:ext cx="4623663" cy="473201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 pipeline view leadership trusts</a:t>
            </a:r>
          </a:p>
        </p:txBody>
      </p:sp>
      <p:sp>
        <p:nvSpPr>
          <p:cNvPr id="33" name="CTA band"/>
          <p:cNvSpPr/>
          <p:nvPr/>
        </p:nvSpPr>
        <p:spPr>
          <a:xfrm>
            <a:off x="594360" y="5184648"/>
            <a:ext cx="11002975" cy="640080"/>
          </a:xfrm>
          <a:prstGeom prst="roundRect">
            <a:avLst>
              <a:gd name="adj" fmla="val 14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ctr">
              <a:spcAft>
                <a:spcPts val="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Book the 30-minute scoping call</a:t>
            </a:r>
          </a:p>
        </p:txBody>
      </p:sp>
      <p:sp>
        <p:nvSpPr>
          <p:cNvPr id="34" name="CTA link — fill before sending"/>
          <p:cNvSpPr/>
          <p:nvPr/>
        </p:nvSpPr>
        <p:spPr>
          <a:xfrm>
            <a:off x="3901287" y="5907024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F8F7FF"/>
          </a:solidFill>
          <a:ln w="1270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5400" bIns="25400"/>
          <a:lstStyle/>
          <a:p>
            <a:pPr algn="ctr">
              <a:spcAft>
                <a:spcPts val="0"/>
              </a:spcAft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‹ booking link or contact — fill in before sending 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APPENDIX A1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Segoe UI"/>
              </a:defRPr>
            </a:pPr>
            <a:r>
              <a:t>MCP architecture &amp; toolset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Technical reference — not for the executive main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87168"/>
            <a:ext cx="5852160" cy="85953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862071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487168"/>
            <a:ext cx="5303520" cy="859535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Write tools default to dry-run; confirm=true for actual writes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38143"/>
            <a:ext cx="5852160" cy="85953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" y="3813046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438143"/>
            <a:ext cx="5303520" cy="859535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Tools: upsert_people, upsert_companies, upsert_deal, log_activity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89118"/>
            <a:ext cx="5852160" cy="85953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" y="4764021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89118"/>
            <a:ext cx="5303520" cy="859535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Read: search_*, get_open_leads, get_activities, find_duplicates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340093"/>
            <a:ext cx="5852160" cy="85953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" y="5714996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5340093"/>
            <a:ext cx="5303520" cy="859535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Access: stdio subprocess or HTTP /mcp with bearer token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2487168"/>
            <a:ext cx="4693615" cy="3712463"/>
          </a:xfrm>
          <a:prstGeom prst="roundRect">
            <a:avLst>
              <a:gd name="adj" fmla="val 6000"/>
            </a:avLst>
          </a:prstGeom>
          <a:solidFill>
            <a:srgbClr val="F8F7FF"/>
          </a:solidFill>
          <a:ln w="19050">
            <a:solidFill>
              <a:srgbClr val="ECE8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Aft>
                <a:spcPts val="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Screenshot to insert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MCP dry-run 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APPENDIX A2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Segoe UI"/>
              </a:defRPr>
            </a:pPr>
            <a:r>
              <a:t>Self-hosted deployment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Honest operational model for IT decision-makers.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87168"/>
            <a:ext cx="11002975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76697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487168"/>
            <a:ext cx="10454335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Python 3.12 · uv · Docker/systemd · FastAPI web cockpit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7948"/>
            <a:ext cx="11002975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" y="352775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247948"/>
            <a:ext cx="10454335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Notion API + optional OAuth; secrets via Infisical or equivalent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08728"/>
            <a:ext cx="11002975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" y="428853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008728"/>
            <a:ext cx="10454335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Optional: OpenRouter, Apollo, Brave, Prosper, email/discord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69508"/>
            <a:ext cx="11002975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" y="504931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769508"/>
            <a:ext cx="10454335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Self-hosted instance controls automation; Notion is system of record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530288"/>
            <a:ext cx="11002975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" y="581009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530288"/>
            <a:ext cx="10454335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No unsupported certification or residency claims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APPENDIX A3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Segoe UI"/>
              </a:defRPr>
            </a:pPr>
            <a:r>
              <a:t>Artelys deployment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Confirm naming approval before external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8716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76697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48716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B2B CRM: Companies, People, Leads/Deals, Activities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794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" y="352775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24794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French open-data enrichment for company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0872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" y="428853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00872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Telegram + MCP for daily capture and maintenance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6950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" y="504931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76950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Activities logged against deals and contacts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53028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" y="581009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53028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Deployment pattern — not a published ROI case study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487168"/>
            <a:ext cx="4693615" cy="3712463"/>
          </a:xfrm>
          <a:prstGeom prst="roundRect">
            <a:avLst>
              <a:gd name="adj" fmla="val 6000"/>
            </a:avLst>
          </a:prstGeom>
          <a:solidFill>
            <a:srgbClr val="F8F7FF"/>
          </a:solidFill>
          <a:ln w="19050">
            <a:solidFill>
              <a:srgbClr val="ECE8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Aft>
                <a:spcPts val="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Screenshot to insert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Anonymized CRM 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rule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274320"/>
            <a:ext cx="310896" cy="310896"/>
          </a:xfrm>
          <a:prstGeom prst="roundRect">
            <a:avLst>
              <a:gd name="adj" fmla="val 23000"/>
            </a:avLst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885" y="274320"/>
            <a:ext cx="186537" cy="310896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>
              <a:spcAft>
                <a:spcPts val="0"/>
              </a:spcAft>
              <a:defRPr sz="1052" b="1">
                <a:solidFill>
                  <a:srgbClr val="FFFFFF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786182" y="393393"/>
            <a:ext cx="41349" cy="41349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0175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APPENDIX A4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82512"/>
            <a:ext cx="11002975" cy="9144"/>
          </a:xfrm>
          <a:prstGeom prst="rect">
            <a:avLst/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594360" y="6437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Notion Pilot · CRM automation for Notion · v2026-09-01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731520"/>
            <a:ext cx="822960" cy="4572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ro"/>
          <p:cNvSpPr txBox="1"/>
          <p:nvPr/>
        </p:nvSpPr>
        <p:spPr>
          <a:xfrm>
            <a:off x="594360" y="868680"/>
            <a:ext cx="11002975" cy="1051560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A1A2E"/>
                </a:solidFill>
                <a:latin typeface="Segoe UI"/>
              </a:defRPr>
            </a:pPr>
            <a:r>
              <a:t>Extended CRM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11002975" cy="384048"/>
          </a:xfrm>
          <a:prstGeom prst="rect">
            <a:avLst/>
          </a:prstGeom>
          <a:noFill/>
        </p:spPr>
        <p:txBody>
          <a:bodyPr wrap="square" anchor="t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Optional capabilities — not universal defaults.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8716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76697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48716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Default deploy creates: Companies, People, Leads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794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" y="352775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24794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Activities and Meetings exist in Notion but are not created by the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0872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" y="428853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00872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Notion Pilot writes Activities once its database id is configured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6950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" y="504931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76950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Meetings is maintained by humans — no tool writes to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530288"/>
            <a:ext cx="5852160" cy="6693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" y="5810094"/>
            <a:ext cx="100584" cy="100584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530288"/>
            <a:ext cx="5303520" cy="6693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A1A2E"/>
                </a:solidFill>
                <a:latin typeface="Segoe UI"/>
              </a:defRPr>
            </a:pPr>
            <a:r>
              <a:t>Reporting via Notion views, rollups, and formulas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487168"/>
            <a:ext cx="4693615" cy="3712463"/>
          </a:xfrm>
          <a:prstGeom prst="roundRect">
            <a:avLst>
              <a:gd name="adj" fmla="val 6000"/>
            </a:avLst>
          </a:prstGeom>
          <a:solidFill>
            <a:srgbClr val="F8F7FF"/>
          </a:solidFill>
          <a:ln w="19050">
            <a:solidFill>
              <a:srgbClr val="ECE8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Aft>
                <a:spcPts val="0"/>
              </a:spcAft>
              <a:defRPr sz="1200" b="1">
                <a:solidFill>
                  <a:srgbClr val="64748B"/>
                </a:solidFill>
                <a:latin typeface="Segoe UI"/>
              </a:defRPr>
            </a:pPr>
            <a:r>
              <a:t>Screenshot to insert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Extended CRM ERD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Notion Pilot — CRM executive deck</dc:title>
  <dc:subject>Replacing a spreadsheet CRM with Notion, maintained by AI under human control</dc:subject>
  <dc:creator>Notion Pilot</dc:creator>
  <cp:keywords>Notion, CRM, MCP, automation, self-hosted, pipeline</cp:keywords>
  <dc:description>Generated from crm-deck-content.json — edit copy there, not in the PPTX.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Marketing</cp:category>
</cp:coreProperties>
</file>